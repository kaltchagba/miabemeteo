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71" r:id="rId18"/>
    <p:sldId id="272" r:id="rId19"/>
    <p:sldId id="273" r:id="rId20"/>
    <p:sldId id="274" r:id="rId21"/>
    <p:sldId id="275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245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120640" y="0"/>
            <a:ext cx="707105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74920" y="0"/>
            <a:ext cx="73152" cy="685800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MiabeMETEO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91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 i="0" dirty="0" err="1">
                <a:solidFill>
                  <a:srgbClr val="60A5FA"/>
                </a:solidFill>
                <a:latin typeface="Calibri"/>
              </a:rPr>
              <a:t>Agrégateur</a:t>
            </a:r>
            <a:r>
              <a:rPr sz="2300" b="0" i="0" dirty="0">
                <a:solidFill>
                  <a:srgbClr val="60A5FA"/>
                </a:solidFill>
                <a:latin typeface="Calibri"/>
              </a:rPr>
              <a:t> </a:t>
            </a:r>
            <a:r>
              <a:rPr sz="2300" b="0" i="0" dirty="0" err="1">
                <a:solidFill>
                  <a:srgbClr val="60A5FA"/>
                </a:solidFill>
                <a:latin typeface="Calibri"/>
              </a:rPr>
              <a:t>Météo</a:t>
            </a:r>
            <a:r>
              <a:rPr sz="2300" b="0" i="0" dirty="0">
                <a:solidFill>
                  <a:srgbClr val="60A5FA"/>
                </a:solidFill>
                <a:latin typeface="Calibri"/>
              </a:rPr>
              <a:t>
Multi-Sources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34640"/>
            <a:ext cx="4023360" cy="41148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Framework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30175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FastAPI 0.111  ·  Python 3.11+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2958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Validation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352958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Pydantic v2  ·  14 modèles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416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Tests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40416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58 tests  ·  82 % couverture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537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Déploiement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55371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Docker Compose  ·  4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151" y="934716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 dirty="0">
                <a:solidFill>
                  <a:srgbClr val="1E3A8A"/>
                </a:solidFill>
                <a:latin typeface="Calibri"/>
              </a:rPr>
              <a:t>Fusion de 3 sources
</a:t>
            </a:r>
            <a:r>
              <a:rPr sz="3300" b="1" i="0" dirty="0" err="1">
                <a:solidFill>
                  <a:srgbClr val="1E3A8A"/>
                </a:solidFill>
                <a:latin typeface="Calibri"/>
              </a:rPr>
              <a:t>météorologiques</a:t>
            </a:r>
            <a:endParaRPr sz="3300" b="1" i="0" dirty="0">
              <a:solidFill>
                <a:srgbClr val="1E3A8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76672" y="5378248"/>
            <a:ext cx="68150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latin typeface="Calibri"/>
              </a:rPr>
              <a:t>Groupe</a:t>
            </a:r>
            <a:r>
              <a:rPr sz="1600" b="1" i="0" dirty="0">
                <a:latin typeface="Calibri"/>
              </a:rPr>
              <a:t> 5 — SONHOUIN </a:t>
            </a:r>
            <a:r>
              <a:rPr sz="1600" b="1" i="0" dirty="0" err="1">
                <a:latin typeface="Calibri"/>
              </a:rPr>
              <a:t>Abdoul-Raouf</a:t>
            </a:r>
            <a:r>
              <a:rPr sz="1600" b="1" i="0" dirty="0">
                <a:latin typeface="Calibri"/>
              </a:rPr>
              <a:t>  ·  TCHAGBA Kaled  ·  YEYE </a:t>
            </a:r>
            <a:r>
              <a:rPr sz="1600" b="1" i="0" dirty="0" err="1">
                <a:latin typeface="Calibri"/>
              </a:rPr>
              <a:t>Koffi</a:t>
            </a:r>
            <a:r>
              <a:rPr sz="1600" b="1" i="0" dirty="0">
                <a:latin typeface="Calibri"/>
              </a:rPr>
              <a:t> Gagnon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499690"/>
            <a:ext cx="640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 err="1">
                <a:solidFill>
                  <a:srgbClr val="2563EB"/>
                </a:solidFill>
                <a:latin typeface="Calibri"/>
              </a:rPr>
              <a:t>OpenWeather</a:t>
            </a:r>
            <a:r>
              <a:rPr sz="2000" b="0" i="0" dirty="0">
                <a:solidFill>
                  <a:srgbClr val="2563EB"/>
                </a:solidFill>
                <a:latin typeface="Calibri"/>
              </a:rPr>
              <a:t>  ·  Open-</a:t>
            </a:r>
            <a:r>
              <a:rPr sz="2000" b="0" i="0" dirty="0" err="1">
                <a:solidFill>
                  <a:srgbClr val="2563EB"/>
                </a:solidFill>
                <a:latin typeface="Calibri"/>
              </a:rPr>
              <a:t>Meteo</a:t>
            </a:r>
            <a:r>
              <a:rPr sz="2000" b="0" i="0" dirty="0">
                <a:solidFill>
                  <a:srgbClr val="2563EB"/>
                </a:solidFill>
                <a:latin typeface="Calibri"/>
              </a:rPr>
              <a:t>  ·  </a:t>
            </a:r>
            <a:r>
              <a:rPr sz="2000" b="0" i="0" dirty="0" err="1">
                <a:solidFill>
                  <a:srgbClr val="2563EB"/>
                </a:solidFill>
                <a:latin typeface="Calibri"/>
              </a:rPr>
              <a:t>WeatherAPI</a:t>
            </a:r>
            <a:endParaRPr sz="2000" b="0" i="0" dirty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394960" y="3474720"/>
            <a:ext cx="1920240" cy="960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32120" y="3520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1E3A8A"/>
                </a:solidFill>
                <a:latin typeface="Calibri"/>
              </a:rPr>
              <a:t>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0233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tests passés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474720"/>
            <a:ext cx="1920240" cy="960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43800" y="3520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1E3A8A"/>
                </a:solidFill>
                <a:latin typeface="Calibri"/>
              </a:rPr>
              <a:t>82 %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40233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couverture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3474720"/>
            <a:ext cx="1920240" cy="960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5480" y="3520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1E3A8A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40233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services Docker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151" y="4572000"/>
            <a:ext cx="69521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C00000"/>
                </a:solidFill>
                <a:latin typeface="Calibri"/>
              </a:rPr>
              <a:t>asyncio.gather</a:t>
            </a:r>
            <a:r>
              <a:rPr sz="1600" b="0" i="0" dirty="0">
                <a:solidFill>
                  <a:srgbClr val="C00000"/>
                </a:solidFill>
                <a:latin typeface="Calibri"/>
              </a:rPr>
              <a:t> · Circuit Breaker · Cache L1/L2 · </a:t>
            </a:r>
            <a:r>
              <a:rPr sz="1600" b="0" i="0" dirty="0" err="1">
                <a:solidFill>
                  <a:srgbClr val="C00000"/>
                </a:solidFill>
                <a:latin typeface="Calibri"/>
              </a:rPr>
              <a:t>WebSocket</a:t>
            </a:r>
            <a:r>
              <a:rPr sz="1600" b="0" i="0" dirty="0">
                <a:solidFill>
                  <a:srgbClr val="C00000"/>
                </a:solidFill>
                <a:latin typeface="Calibri"/>
              </a:rPr>
              <a:t> · Prometheus + </a:t>
            </a:r>
            <a:r>
              <a:rPr sz="1600" b="0" i="0" dirty="0" err="1">
                <a:solidFill>
                  <a:srgbClr val="C00000"/>
                </a:solidFill>
                <a:latin typeface="Calibri"/>
              </a:rPr>
              <a:t>Grafana</a:t>
            </a:r>
            <a:endParaRPr sz="1600" b="0" i="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394960" y="5074920"/>
            <a:ext cx="6400800" cy="36576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04757" y="6385439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ESGIS </a:t>
            </a:r>
            <a:r>
              <a:rPr sz="16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M1 IA &amp; Big Data 2025-2026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4757" y="5902640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Enseignant</a:t>
            </a:r>
            <a:r>
              <a:rPr sz="16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: TCHAYE-KONDI Jude, Ph.D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Plan de la présentation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2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293876"/>
            <a:ext cx="548640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293876"/>
            <a:ext cx="502920" cy="8046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3876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03604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3A8A"/>
                </a:solidFill>
                <a:latin typeface="Calibri"/>
              </a:rPr>
              <a:t>Contexte et problématique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17420"/>
            <a:ext cx="548640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217420"/>
            <a:ext cx="502920" cy="8046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217420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327148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3A8A"/>
                </a:solidFill>
                <a:latin typeface="Calibri"/>
              </a:rPr>
              <a:t>Architecture du système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40964"/>
            <a:ext cx="548640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140964"/>
            <a:ext cx="502920" cy="8046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140964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50692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3A8A"/>
                </a:solidFill>
                <a:latin typeface="Calibri"/>
              </a:rPr>
              <a:t>Flux GET /meteo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64508"/>
            <a:ext cx="548640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4064508"/>
            <a:ext cx="502920" cy="8046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064508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74236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3A8A"/>
                </a:solidFill>
                <a:latin typeface="Calibri"/>
              </a:rPr>
              <a:t>Cache Redis L1/L2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88052"/>
            <a:ext cx="548640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4988052"/>
            <a:ext cx="502920" cy="8046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988052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097780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3A8A"/>
                </a:solidFill>
                <a:latin typeface="Calibri"/>
              </a:rPr>
              <a:t>Circuit Breaker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1293876"/>
            <a:ext cx="548640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92240" y="1293876"/>
            <a:ext cx="502920" cy="8046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1293876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1403604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3A8A"/>
                </a:solidFill>
                <a:latin typeface="Calibri"/>
              </a:rPr>
              <a:t>Fusion et indice de confiance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2217420"/>
            <a:ext cx="548640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92240" y="2217420"/>
            <a:ext cx="502920" cy="8046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2217420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2327148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3A8A"/>
                </a:solidFill>
                <a:latin typeface="Calibri"/>
              </a:rPr>
              <a:t>Conformité Projet 05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3140964"/>
            <a:ext cx="548640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92240" y="3140964"/>
            <a:ext cx="502920" cy="8046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3140964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3250692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3A8A"/>
                </a:solidFill>
                <a:latin typeface="Calibri"/>
              </a:rPr>
              <a:t>Endpoints et fonctionnalités complémentaires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4064508"/>
            <a:ext cx="548640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92240" y="4064508"/>
            <a:ext cx="502920" cy="8046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4064508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4174236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3A8A"/>
                </a:solidFill>
                <a:latin typeface="Calibri"/>
              </a:rPr>
              <a:t>Interface · WebSocket · Sécurité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4988052"/>
            <a:ext cx="548640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92240" y="4988052"/>
            <a:ext cx="502920" cy="8046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2240" y="4988052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5097780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3A8A"/>
                </a:solidFill>
                <a:latin typeface="Calibri"/>
              </a:rPr>
              <a:t>Tests · Docker · CI · Performances · Déploiement</a:t>
            </a:r>
          </a:p>
        </p:txBody>
      </p:sp>
      <p:sp>
        <p:nvSpPr>
          <p:cNvPr id="48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Contexte et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Projet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3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293876"/>
            <a:ext cx="111858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E3A8A"/>
                </a:solidFill>
                <a:latin typeface="Calibri"/>
              </a:rPr>
              <a:t>Les APIs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météo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gratuites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sont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faillibles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: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pannes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ponctuelles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données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divergentes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, quotas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limités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. Comment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garantir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une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réponse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fiable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avec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latence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p95 &lt; 800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ms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3566160" cy="320040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OpenWeather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rgbClr val="FFFFFF"/>
                </a:solidFill>
                <a:latin typeface="Calibri"/>
              </a:rPr>
              <a:t>Clé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API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gratuite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
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Données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mondiales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
api.openweathermap.org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920240"/>
            <a:ext cx="3566160" cy="3200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196596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Open-Meteo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6974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100 % gratuit
Sans inscription
Modèles NWP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920240"/>
            <a:ext cx="3566160" cy="320040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6596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WeatherAPI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6974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rgbClr val="FFFFFF"/>
                </a:solidFill>
                <a:latin typeface="Calibri"/>
              </a:rPr>
              <a:t>Clé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API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gratuite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
Riche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métadonnées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
api.weatherapi.com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96539" y="5299928"/>
            <a:ext cx="2057400" cy="5943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96539" y="5366389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Calibri"/>
              </a:rPr>
              <a:t>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692" y="6062393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 dirty="0">
                <a:solidFill>
                  <a:srgbClr val="475569"/>
                </a:solidFill>
                <a:latin typeface="Calibri"/>
              </a:rPr>
              <a:t>+ </a:t>
            </a:r>
            <a:r>
              <a:rPr sz="1700" b="0" i="0" dirty="0" err="1">
                <a:solidFill>
                  <a:srgbClr val="475569"/>
                </a:solidFill>
                <a:latin typeface="Calibri"/>
              </a:rPr>
              <a:t>Indice</a:t>
            </a:r>
            <a:r>
              <a:rPr sz="1700" b="0" i="0" dirty="0">
                <a:solidFill>
                  <a:srgbClr val="475569"/>
                </a:solidFill>
                <a:latin typeface="Calibri"/>
              </a:rPr>
              <a:t> de </a:t>
            </a:r>
            <a:r>
              <a:rPr sz="1700" b="0" i="0" dirty="0" err="1">
                <a:solidFill>
                  <a:srgbClr val="475569"/>
                </a:solidFill>
                <a:latin typeface="Calibri"/>
              </a:rPr>
              <a:t>confiance</a:t>
            </a:r>
            <a:r>
              <a:rPr sz="1700" b="0" i="0" dirty="0">
                <a:solidFill>
                  <a:srgbClr val="475569"/>
                </a:solidFill>
                <a:latin typeface="Calibri"/>
              </a:rPr>
              <a:t>  ·  + Circuit Breaker  ·  + Cache L1/L2  ·  + </a:t>
            </a:r>
            <a:r>
              <a:rPr sz="1700" b="0" i="0" dirty="0" err="1">
                <a:solidFill>
                  <a:srgbClr val="475569"/>
                </a:solidFill>
                <a:latin typeface="Calibri"/>
              </a:rPr>
              <a:t>Pré-chauffe</a:t>
            </a:r>
            <a:r>
              <a:rPr sz="1700" b="0" i="0" dirty="0">
                <a:solidFill>
                  <a:srgbClr val="475569"/>
                </a:solidFill>
                <a:latin typeface="Calibri"/>
              </a:rPr>
              <a:t> 20 </a:t>
            </a:r>
            <a:r>
              <a:rPr sz="1700" b="0" i="0" dirty="0" err="1">
                <a:solidFill>
                  <a:srgbClr val="475569"/>
                </a:solidFill>
                <a:latin typeface="Calibri"/>
              </a:rPr>
              <a:t>villes</a:t>
            </a:r>
            <a:endParaRPr sz="170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22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Architecture du système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Vue d'ensemble des composants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4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01" y="1179576"/>
            <a:ext cx="11507197" cy="5431536"/>
          </a:xfrm>
          <a:prstGeom prst="rect">
            <a:avLst/>
          </a:prstGeom>
        </p:spPr>
      </p:pic>
      <p:sp>
        <p:nvSpPr>
          <p:cNvPr id="11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Flux d'une requête GET /meteo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7 étapes — _fetch_meteo() dans router_meteo.py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5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36" y="1367611"/>
            <a:ext cx="10817678" cy="4682125"/>
          </a:xfrm>
          <a:prstGeom prst="rect">
            <a:avLst/>
          </a:prstGeom>
        </p:spPr>
      </p:pic>
      <p:sp>
        <p:nvSpPr>
          <p:cNvPr id="11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Cache Redis à deux niveaux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L1 · 300 s par fournisseur  ·  L2 · 3600 s consolidé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6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82" y="1420916"/>
            <a:ext cx="11400508" cy="4930567"/>
          </a:xfrm>
          <a:prstGeom prst="rect">
            <a:avLst/>
          </a:prstGeom>
        </p:spPr>
      </p:pic>
      <p:sp>
        <p:nvSpPr>
          <p:cNvPr id="11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Circuit Breaker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3 instances globales — openweather · open_meteo · weatherapi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7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293876"/>
            <a:ext cx="111858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3A8A"/>
                </a:solidFill>
                <a:latin typeface="Calibri"/>
              </a:rPr>
              <a:t>Après 3 erreurs en 60 s → OPEN : requêtes bloquées sans timeout HTTP. Après 30 s → HALF_OPEN : une sonde passe (anti-race : repasse OPEN avant d'autoriser).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600" y="1888236"/>
            <a:ext cx="9236240" cy="4561550"/>
          </a:xfrm>
          <a:prstGeom prst="rect">
            <a:avLst/>
          </a:prstGeom>
        </p:spPr>
      </p:pic>
      <p:sp>
        <p:nvSpPr>
          <p:cNvPr id="13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Fusion et indice de confiance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Qualité des données consolidées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8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293876"/>
            <a:ext cx="11185855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58468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3A8A"/>
                </a:solidFill>
                <a:latin typeface="Calibri"/>
              </a:rPr>
              <a:t>indice_confiance  =  max( 0,  min( 100,  round( 100 − écart_type(températures) × 20 ) ) 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391156"/>
          <a:ext cx="1118585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Indice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Interprétation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Situation typique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80 – 100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Accord élevé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3 sources proches — données fiables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60 – 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Bon accord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Légères variations entre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Source unique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Valeur fixe — 1 seul provider actif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0 – 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Divergence forte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Code pays probablement incorrect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4402836"/>
            <a:ext cx="11185855" cy="18288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4494276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97706"/>
                </a:solidFill>
                <a:latin typeface="Calibri"/>
              </a:rPr>
              <a:t>Champ "avertissement" : str | null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951476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F172A"/>
                </a:solidFill>
                <a:latin typeface="Calibri"/>
              </a:rPr>
              <a:t>Émis si écart ≥ 8 °C entre sources  →  "Vérifiez le code pays"
Émis si 1 seule source sur 3 répond  →  "Ville introuvable ou mal orthographiée"</a:t>
            </a:r>
          </a:p>
        </p:txBody>
      </p:sp>
      <p:sp>
        <p:nvSpPr>
          <p:cNvPr id="15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Conformité Projet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Cahier des charges vs implémentation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9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93876"/>
          <a:ext cx="11185854" cy="5255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73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Exigence Projet 05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Statut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Implémentation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GET /meteo — 3 sources parallèles, p95 &lt; 800 ms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asyncio.gather(), cache L2 &lt; 10 ms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Circuit breaker OPEN/HALF_OPEN/CLOSED, fenêtre 60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circuit_breaker.py, 3 instances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Cache Redis L1 (300 s) + L2 (3600 s)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cache.py, clés normalisées minuscules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Scheduler pré-chauffe 20 villes / 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scheduler.py, APScheduler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GET /sante — état de chaque source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EtatCircuitBreaker + hits/misses Redis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Dashboard HTML métriques hit/miss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/dashboard (auto-refresh 10 s) + /interface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Tests sans appel réel, couverture ≥ 70 %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58 tests, 82 % — fakeredis + respx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Dockerfile + docker-compose.yml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4 services : app redis prometheus grafana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Pipeline CI lint + tests + build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.github/workflows/ci.yml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74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GET /comparer + WebSocket + Prometheus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BONUS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 err="1">
                          <a:solidFill>
                            <a:srgbClr val="0F172A"/>
                          </a:solidFill>
                          <a:latin typeface="Calibri"/>
                        </a:rPr>
                        <a:t>Fonctionnalités</a:t>
                      </a:r>
                      <a:r>
                        <a:rPr sz="1300" dirty="0">
                          <a:solidFill>
                            <a:srgbClr val="0F172A"/>
                          </a:solidFill>
                          <a:latin typeface="Calibri"/>
                        </a:rPr>
                        <a:t> </a:t>
                      </a:r>
                      <a:r>
                        <a:rPr sz="1300" dirty="0" err="1">
                          <a:solidFill>
                            <a:srgbClr val="0F172A"/>
                          </a:solidFill>
                          <a:latin typeface="Calibri"/>
                        </a:rPr>
                        <a:t>complémentaires</a:t>
                      </a:r>
                      <a:endParaRPr sz="1300" dirty="0">
                        <a:solidFill>
                          <a:srgbClr val="0F172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Endpoints obligatoires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GET /meteo · GET /sante · GET /dashboard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10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293876"/>
            <a:ext cx="5577840" cy="5244084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85316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E3A8A"/>
                </a:solidFill>
                <a:latin typeface="Calibri"/>
              </a:rPr>
              <a:t>GET /meteo?ville=Paris&amp;pays=FR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07108"/>
            <a:ext cx="5257800" cy="4421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3A8A"/>
                </a:solidFill>
                <a:latin typeface="Calibri"/>
              </a:rPr>
              <a:t>temperature_c   : 22.4
humidite_pct    : 61
vent_kmh        : 18.0
description     : "nuageux"
indice_confiance: 87
fournisseurs_ok : ["openweather","open_meteo"]
fournisseurs_ko : ["weatherapi"]
depuis_cache    : false
depuis_cache_l1 : false
avertissement   : null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293876"/>
            <a:ext cx="5577840" cy="5244084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38531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E3A8A"/>
                </a:solidFill>
                <a:latin typeface="Calibri"/>
              </a:rPr>
              <a:t>GET /sante  ·  GET /dashboard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07108"/>
            <a:ext cx="5257800" cy="4421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3A8A"/>
                </a:solidFill>
                <a:latin typeface="Calibri"/>
              </a:rPr>
              <a:t>/sante — JSON structuré :
  status: "ok" / "dégradé" / "critique"
  fournisseurs: [{etat, nb_erreurs, since}]
  cache_hits · cache_misses · timestamp
/dashboard — HTML auto-refresh 10 s :
  Tableau hit/miss Redis
  Statut circuit breakers en direct
  Top villes consultées</a:t>
            </a:r>
          </a:p>
        </p:txBody>
      </p:sp>
      <p:sp>
        <p:nvSpPr>
          <p:cNvPr id="15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Fonctionnalités complémentaires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10 endpoints au-delà des 6 exigences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11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93876"/>
          <a:ext cx="11185854" cy="5276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734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GET /comparer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Données brutes côte à côte + écarts + indice de consensus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router_meteo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GET /previsions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Prévisions 7 jours — Open-Meteo (codes WMO)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router_donnees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GET /historique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Fenêtre glissante 48 relevés par ville (RPUSH+LTRIM)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router_donnees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GET /alertes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Canicule (&gt;35°C) · gel (&lt;0°C) · vent fort (&gt;80 km/h)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router_donnees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GET /villes-populaires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Classement Redis Sorted Set (ZINCRBY)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router_donnees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GET /export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CSV ou JSON téléchargeable — BOM UTF-8 — filename sanitisé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router_donnees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POST /batch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Météo 1–10 villes en une requête asyncio.gather()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router_donnees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WS /ws/stats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Métriques JSON poussées toutes les 5 s (push pur)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router_donnees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WS /ws/meteo/{ville}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Flux météo 10–60 s paramétrable côté client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router_meteo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74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GET /metrics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4 métriques Prometheus — Counter · Histogram · Gauge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metrics.py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Interface /interface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Page HTML/CSS/JS servie par FastAPI — Leaflet.js · Chart.js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12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293876"/>
            <a:ext cx="548640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3959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8A"/>
                </a:solidFill>
                <a:latin typeface="Calibri"/>
              </a:rPr>
              <a:t>Recherche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6936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Champ ville + code pays ISO — validation inline avant appel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27732"/>
            <a:ext cx="548640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4734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8A"/>
                </a:solidFill>
                <a:latin typeface="Calibri"/>
              </a:rPr>
              <a:t>Fond dynamique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032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Dégradé CSS adapté à la condition météo retournée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61588"/>
            <a:ext cx="548640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6073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8A"/>
                </a:solidFill>
                <a:latin typeface="Calibri"/>
              </a:rPr>
              <a:t>Indice confiance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3707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Barre de progression + label : "Accord élevé" → "Divergence forte"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95444"/>
            <a:ext cx="548640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74116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8A"/>
                </a:solidFill>
                <a:latin typeface="Calibri"/>
              </a:rPr>
              <a:t>Statut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709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Pills colorées par fournisseur : vert = OK · rouge = KO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293876"/>
            <a:ext cx="548640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133959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8A"/>
                </a:solidFill>
                <a:latin typeface="Calibri"/>
              </a:rPr>
              <a:t>Carte Leaflet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76936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Carte interactive avec marker sur la ville recherchée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427732"/>
            <a:ext cx="548640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9400" y="24734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8A"/>
                </a:solidFill>
                <a:latin typeface="Calibri"/>
              </a:rPr>
              <a:t>Flux 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9032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WebSocket /ws/meteo on/off — badge LIVE clignotant, 30 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3561588"/>
            <a:ext cx="548640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36073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8A"/>
                </a:solidFill>
                <a:latin typeface="Calibri"/>
              </a:rPr>
              <a:t>Avertissement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03707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Bandeau orange si données incohérentes — guide l'utilisateur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4695444"/>
            <a:ext cx="548640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474116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8A"/>
                </a:solidFill>
                <a:latin typeface="Calibri"/>
              </a:rPr>
              <a:t>Dark / Light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1709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Toggle mode nuit/jour, persiste en localStorage</a:t>
            </a:r>
          </a:p>
        </p:txBody>
      </p:sp>
      <p:sp>
        <p:nvSpPr>
          <p:cNvPr id="33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WebSocket — deux variantes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/ws/stats (5 s)  ·  /ws/meteo/{ville} (10–60 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13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93876"/>
          <a:ext cx="1118585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Critère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/ws/stats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/ws/meteo/{ville}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Déclencheur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Serveur push pur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Serveur push paramétrable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Intervalle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5 secondes fixe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10–60 s (param interval, clampé côté serveur)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Données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Métriques globales (CB, cache, top villes, alertes)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MeteoResponse JSON complète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Interaction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Aucune — ouvrir/fermer seulement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Paramètre interval à l'ouverture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En cas d'erreur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Envoie JSON erreur sans couper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Envoie JSON erreur sans couper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Utilisation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/dashboard, monitoring externe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/interface mode live, client custom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96392" y="5278374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 dirty="0">
                <a:solidFill>
                  <a:srgbClr val="0E766E"/>
                </a:solidFill>
                <a:latin typeface="Calibri"/>
              </a:rPr>
              <a:t>Clamp interval (10–60 s) : </a:t>
            </a:r>
            <a:r>
              <a:rPr sz="1700" b="0" i="1" dirty="0" err="1">
                <a:solidFill>
                  <a:srgbClr val="0E766E"/>
                </a:solidFill>
                <a:latin typeface="Calibri"/>
              </a:rPr>
              <a:t>protège</a:t>
            </a:r>
            <a:r>
              <a:rPr sz="1700" b="0" i="1" dirty="0">
                <a:solidFill>
                  <a:srgbClr val="0E766E"/>
                </a:solidFill>
                <a:latin typeface="Calibri"/>
              </a:rPr>
              <a:t> les providers </a:t>
            </a:r>
            <a:r>
              <a:rPr sz="1700" b="0" i="1" dirty="0" err="1">
                <a:solidFill>
                  <a:srgbClr val="0E766E"/>
                </a:solidFill>
                <a:latin typeface="Calibri"/>
              </a:rPr>
              <a:t>contre</a:t>
            </a:r>
            <a:r>
              <a:rPr sz="1700" b="0" i="1" dirty="0">
                <a:solidFill>
                  <a:srgbClr val="0E766E"/>
                </a:solidFill>
                <a:latin typeface="Calibri"/>
              </a:rPr>
              <a:t> un client qui </a:t>
            </a:r>
            <a:r>
              <a:rPr sz="1700" b="0" i="1" dirty="0" err="1">
                <a:solidFill>
                  <a:srgbClr val="0E766E"/>
                </a:solidFill>
                <a:latin typeface="Calibri"/>
              </a:rPr>
              <a:t>demanderait</a:t>
            </a:r>
            <a:r>
              <a:rPr sz="1700" b="0" i="1" dirty="0">
                <a:solidFill>
                  <a:srgbClr val="0E766E"/>
                </a:solidFill>
                <a:latin typeface="Calibri"/>
              </a:rPr>
              <a:t> 1 s. Sous 10 s, la </a:t>
            </a:r>
            <a:r>
              <a:rPr sz="1700" b="0" i="1" dirty="0" err="1">
                <a:solidFill>
                  <a:srgbClr val="0E766E"/>
                </a:solidFill>
                <a:latin typeface="Calibri"/>
              </a:rPr>
              <a:t>réponse</a:t>
            </a:r>
            <a:r>
              <a:rPr sz="1700" b="0" i="1" dirty="0">
                <a:solidFill>
                  <a:srgbClr val="0E766E"/>
                </a:solidFill>
                <a:latin typeface="Calibri"/>
              </a:rPr>
              <a:t> </a:t>
            </a:r>
            <a:r>
              <a:rPr sz="1700" b="0" i="1" dirty="0" err="1">
                <a:solidFill>
                  <a:srgbClr val="0E766E"/>
                </a:solidFill>
                <a:latin typeface="Calibri"/>
              </a:rPr>
              <a:t>proviendrait</a:t>
            </a:r>
            <a:r>
              <a:rPr sz="1700" b="0" i="1" dirty="0">
                <a:solidFill>
                  <a:srgbClr val="0E766E"/>
                </a:solidFill>
                <a:latin typeface="Calibri"/>
              </a:rPr>
              <a:t> du cache L2 de </a:t>
            </a:r>
            <a:r>
              <a:rPr sz="1700" b="0" i="1" dirty="0" err="1">
                <a:solidFill>
                  <a:srgbClr val="0E766E"/>
                </a:solidFill>
                <a:latin typeface="Calibri"/>
              </a:rPr>
              <a:t>toute</a:t>
            </a:r>
            <a:r>
              <a:rPr sz="1700" b="0" i="1" dirty="0">
                <a:solidFill>
                  <a:srgbClr val="0E766E"/>
                </a:solidFill>
                <a:latin typeface="Calibri"/>
              </a:rPr>
              <a:t> </a:t>
            </a:r>
            <a:r>
              <a:rPr sz="1700" b="0" i="1" dirty="0" err="1">
                <a:solidFill>
                  <a:srgbClr val="0E766E"/>
                </a:solidFill>
                <a:latin typeface="Calibri"/>
              </a:rPr>
              <a:t>façon</a:t>
            </a:r>
            <a:r>
              <a:rPr sz="1700" b="0" i="1" dirty="0">
                <a:solidFill>
                  <a:srgbClr val="0E766E"/>
                </a:solidFill>
                <a:latin typeface="Calibri"/>
              </a:rPr>
              <a:t>.</a:t>
            </a:r>
          </a:p>
        </p:txBody>
      </p:sp>
      <p:sp>
        <p:nvSpPr>
          <p:cNvPr id="11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middleware.py · cache.py · schemas.py · Dockerfile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14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293876"/>
            <a:ext cx="5577840" cy="2468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8531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8A"/>
                </a:solidFill>
                <a:latin typeface="Calibri"/>
              </a:rPr>
              <a:t>Rate Limiting Redis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88236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  <a:latin typeface="Calibri"/>
              </a:rPr>
              <a:t>Clé : rl:{ip} (INCR + EXPIRE)
100 req / 60 s par IP
Fail-open si Redis KO
429 + Retry-After: 60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293876"/>
            <a:ext cx="5577840" cy="2468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38531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8A"/>
                </a:solidFill>
                <a:latin typeface="Calibri"/>
              </a:rPr>
              <a:t>CSP nonce par requête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888236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  <a:latin typeface="Calibri"/>
              </a:rPr>
              <a:t>secrets.token_bytes(18) → base64
Nonce injecté dans interface.html
Différent à chaque réponse HTTP
2^144 combinaisons possibles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99916"/>
            <a:ext cx="5577840" cy="2468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99135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8A"/>
                </a:solidFill>
                <a:latin typeface="Calibri"/>
              </a:rPr>
              <a:t>7 en-têtes HTTP sécurité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94276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  <a:latin typeface="Calibri"/>
              </a:rPr>
              <a:t>X-Content-Type-Options: nosniff
X-Frame-Options: SAMEORIGIN
Strict-Transport-Security: 1 an
CSP · Referrer-Policy · Permissions-Policy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899916"/>
            <a:ext cx="5577840" cy="2468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399135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8A"/>
                </a:solidFill>
                <a:latin typeface="Calibri"/>
              </a:rPr>
              <a:t>Validation Pydantic v2 + Docker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494276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0F172A"/>
                </a:solidFill>
                <a:latin typeface="Calibri"/>
              </a:rPr>
              <a:t>ville</a:t>
            </a:r>
            <a:r>
              <a:rPr sz="1600" b="0" i="0" dirty="0">
                <a:solidFill>
                  <a:srgbClr val="0F172A"/>
                </a:solidFill>
                <a:latin typeface="Calibri"/>
              </a:rPr>
              <a:t>: 1–100 chars · regex accents
pays: </a:t>
            </a:r>
            <a:r>
              <a:rPr sz="1600" b="0" i="0" dirty="0" err="1">
                <a:solidFill>
                  <a:srgbClr val="0F172A"/>
                </a:solidFill>
                <a:latin typeface="Calibri"/>
              </a:rPr>
              <a:t>exactement</a:t>
            </a:r>
            <a:r>
              <a:rPr sz="1600" b="0" i="0" dirty="0">
                <a:solidFill>
                  <a:srgbClr val="0F172A"/>
                </a:solidFill>
                <a:latin typeface="Calibri"/>
              </a:rPr>
              <a:t> 2 </a:t>
            </a:r>
            <a:r>
              <a:rPr sz="1600" b="0" i="0" dirty="0" err="1">
                <a:solidFill>
                  <a:srgbClr val="0F172A"/>
                </a:solidFill>
                <a:latin typeface="Calibri"/>
              </a:rPr>
              <a:t>lettres</a:t>
            </a:r>
            <a:r>
              <a:rPr sz="1600" b="0" i="0" dirty="0">
                <a:solidFill>
                  <a:srgbClr val="0F172A"/>
                </a:solidFill>
                <a:latin typeface="Calibri"/>
              </a:rPr>
              <a:t> ISO
Filename export : </a:t>
            </a:r>
            <a:r>
              <a:rPr sz="1600" b="0" i="0" dirty="0" err="1">
                <a:solidFill>
                  <a:srgbClr val="0F172A"/>
                </a:solidFill>
                <a:latin typeface="Calibri"/>
              </a:rPr>
              <a:t>re.sub</a:t>
            </a:r>
            <a:r>
              <a:rPr sz="1600" b="0" i="0" dirty="0">
                <a:solidFill>
                  <a:srgbClr val="0F172A"/>
                </a:solidFill>
                <a:latin typeface="Calibri"/>
              </a:rPr>
              <a:t> [^\w\-]
</a:t>
            </a:r>
            <a:r>
              <a:rPr sz="1600" b="0" i="0" dirty="0" err="1">
                <a:solidFill>
                  <a:srgbClr val="0F172A"/>
                </a:solidFill>
                <a:latin typeface="Calibri"/>
              </a:rPr>
              <a:t>Dockerfile</a:t>
            </a:r>
            <a:r>
              <a:rPr sz="1600" b="0" i="0" dirty="0">
                <a:solidFill>
                  <a:srgbClr val="0F172A"/>
                </a:solidFill>
                <a:latin typeface="Calibri"/>
              </a:rPr>
              <a:t> : USER </a:t>
            </a:r>
            <a:r>
              <a:rPr sz="1600" b="0" i="0" dirty="0" err="1">
                <a:solidFill>
                  <a:srgbClr val="0F172A"/>
                </a:solidFill>
                <a:latin typeface="Calibri"/>
              </a:rPr>
              <a:t>appuser</a:t>
            </a:r>
            <a:r>
              <a:rPr sz="1600" b="0" i="0" dirty="0">
                <a:solidFill>
                  <a:srgbClr val="0F172A"/>
                </a:solidFill>
                <a:latin typeface="Calibri"/>
              </a:rPr>
              <a:t> (non-root)</a:t>
            </a:r>
          </a:p>
        </p:txBody>
      </p:sp>
      <p:sp>
        <p:nvSpPr>
          <p:cNvPr id="21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Tests et couverture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 dirty="0">
                <a:solidFill>
                  <a:srgbClr val="60A5FA"/>
                </a:solidFill>
                <a:latin typeface="Calibri"/>
              </a:rPr>
              <a:t>58 tests · 82 % · </a:t>
            </a:r>
            <a:r>
              <a:rPr sz="1600" b="0" i="0" dirty="0" err="1">
                <a:solidFill>
                  <a:srgbClr val="60A5FA"/>
                </a:solidFill>
                <a:latin typeface="Calibri"/>
              </a:rPr>
              <a:t>respx</a:t>
            </a:r>
            <a:r>
              <a:rPr sz="1600" b="0" i="0" dirty="0">
                <a:solidFill>
                  <a:srgbClr val="60A5FA"/>
                </a:solidFill>
                <a:latin typeface="Calibri"/>
              </a:rPr>
              <a:t> + </a:t>
            </a:r>
            <a:r>
              <a:rPr sz="1600" b="0" i="0" dirty="0" err="1">
                <a:solidFill>
                  <a:srgbClr val="60A5FA"/>
                </a:solidFill>
                <a:latin typeface="Calibri"/>
              </a:rPr>
              <a:t>fakeredis</a:t>
            </a:r>
            <a:r>
              <a:rPr sz="1600" b="0" i="0" dirty="0">
                <a:solidFill>
                  <a:srgbClr val="60A5FA"/>
                </a:solidFill>
                <a:latin typeface="Calibri"/>
              </a:rPr>
              <a:t> · 0 </a:t>
            </a:r>
            <a:r>
              <a:rPr sz="1600" b="0" i="0" dirty="0" err="1">
                <a:solidFill>
                  <a:srgbClr val="60A5FA"/>
                </a:solidFill>
                <a:latin typeface="Calibri"/>
              </a:rPr>
              <a:t>appel</a:t>
            </a:r>
            <a:r>
              <a:rPr sz="1600" b="0" i="0" dirty="0">
                <a:solidFill>
                  <a:srgbClr val="60A5F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0A5FA"/>
                </a:solidFill>
                <a:latin typeface="Calibri"/>
              </a:rPr>
              <a:t>externe</a:t>
            </a:r>
            <a:endParaRPr sz="1600" b="0" i="0" dirty="0">
              <a:solidFill>
                <a:srgbClr val="60A5F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15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3876"/>
            <a:ext cx="11185855" cy="5266944"/>
          </a:xfrm>
          <a:prstGeom prst="rect">
            <a:avLst/>
          </a:prstGeom>
        </p:spPr>
      </p:pic>
      <p:sp>
        <p:nvSpPr>
          <p:cNvPr id="11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Tests et couverture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58 tests · 82 % · respx + fakeredis · 0 appel externe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 smtClean="0">
                <a:solidFill>
                  <a:srgbClr val="94A3B8"/>
                </a:solidFill>
                <a:latin typeface="Calibri"/>
              </a:rPr>
              <a:t>1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6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94A3B8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550665"/>
              </p:ext>
            </p:extLst>
          </p:nvPr>
        </p:nvGraphicFramePr>
        <p:xfrm>
          <a:off x="502920" y="1641998"/>
          <a:ext cx="11185854" cy="3452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519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Tests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Scénarios clés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505"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0F172A"/>
                          </a:solidFill>
                          <a:latin typeface="Calibri"/>
                        </a:rPr>
                        <a:t>test_meteo.py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0F172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0F172A"/>
                          </a:solidFill>
                          <a:latin typeface="Calibri"/>
                        </a:rPr>
                        <a:t>3/2/1/0 providers OK · cache L2 hit · CB OPEN · /comparer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50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test_cache.py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L1/L2 · TTL · normalisation clés · Redis indisponible (fail-open)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50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test_extras.py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/historique · /alertes · /batch · /export · /interface · rate limit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450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test_scheduler.py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0F172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Pré-chauffe · résilience erreurs · cycle démarrage/arrêt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75"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0F172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0F172A"/>
                          </a:solidFill>
                          <a:latin typeface="Calibri"/>
                        </a:rPr>
                        <a:t>82 % couverture </a:t>
                      </a:r>
                      <a:r>
                        <a:rPr sz="1300" dirty="0" err="1">
                          <a:solidFill>
                            <a:srgbClr val="0F172A"/>
                          </a:solidFill>
                          <a:latin typeface="Calibri"/>
                        </a:rPr>
                        <a:t>globale</a:t>
                      </a:r>
                      <a:r>
                        <a:rPr sz="1300" dirty="0">
                          <a:solidFill>
                            <a:srgbClr val="0F172A"/>
                          </a:solidFill>
                          <a:latin typeface="Calibri"/>
                        </a:rPr>
                        <a:t> (</a:t>
                      </a:r>
                      <a:r>
                        <a:rPr sz="1300" dirty="0" err="1">
                          <a:solidFill>
                            <a:srgbClr val="0F172A"/>
                          </a:solidFill>
                          <a:latin typeface="Calibri"/>
                        </a:rPr>
                        <a:t>seuil</a:t>
                      </a:r>
                      <a:r>
                        <a:rPr sz="1300" dirty="0">
                          <a:solidFill>
                            <a:srgbClr val="0F172A"/>
                          </a:solidFill>
                          <a:latin typeface="Calibri"/>
                        </a:rPr>
                        <a:t> </a:t>
                      </a:r>
                      <a:r>
                        <a:rPr sz="1300" dirty="0" err="1">
                          <a:solidFill>
                            <a:srgbClr val="0F172A"/>
                          </a:solidFill>
                          <a:latin typeface="Calibri"/>
                        </a:rPr>
                        <a:t>requis</a:t>
                      </a:r>
                      <a:r>
                        <a:rPr sz="1300" dirty="0">
                          <a:solidFill>
                            <a:srgbClr val="0F172A"/>
                          </a:solidFill>
                          <a:latin typeface="Calibri"/>
                        </a:rPr>
                        <a:t> : 70 %)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  <p:extLst>
      <p:ext uri="{BB962C8B-B14F-4D97-AF65-F5344CB8AC3E}">
        <p14:creationId xmlns:p14="http://schemas.microsoft.com/office/powerpoint/2010/main" val="4003254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Docker &amp; docker-compose.yml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4 services · volumes persistants · healthchecks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 smtClean="0">
                <a:solidFill>
                  <a:srgbClr val="94A3B8"/>
                </a:solidFill>
                <a:latin typeface="Calibri"/>
              </a:rPr>
              <a:t>1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7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94A3B8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79" y="1188719"/>
            <a:ext cx="11676562" cy="5277113"/>
          </a:xfrm>
          <a:prstGeom prst="rect">
            <a:avLst/>
          </a:prstGeom>
        </p:spPr>
      </p:pic>
      <p:sp>
        <p:nvSpPr>
          <p:cNvPr id="11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Pipeline 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GitHub Actions — 3 jobs séquentiels — main · develop · kaled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 smtClean="0">
                <a:solidFill>
                  <a:srgbClr val="94A3B8"/>
                </a:solidFill>
                <a:latin typeface="Calibri"/>
              </a:rPr>
              <a:t>1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8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94A3B8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85316"/>
            <a:ext cx="11185855" cy="41987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26364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475569"/>
                </a:solidFill>
                <a:latin typeface="Calibri"/>
              </a:rPr>
              <a:t>Couverture &lt; 70 % bloque le build Docker  ·  Actuellement 82 %</a:t>
            </a:r>
          </a:p>
        </p:txBody>
      </p:sp>
      <p:sp>
        <p:nvSpPr>
          <p:cNvPr id="11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Performances mesurées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Latences observées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 smtClean="0">
                <a:solidFill>
                  <a:srgbClr val="94A3B8"/>
                </a:solidFill>
                <a:latin typeface="Calibri"/>
              </a:rPr>
              <a:t>1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9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94A3B8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93876"/>
          <a:ext cx="11185854" cy="3284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Scénario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Latence typique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Explication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Cache L2 hit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&lt; 10 ms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Lecture Redis directe — aucun calcul supplémentaire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Cache L1 hit (3 providers)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&lt; 50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3 lectures Redis en parallèle via asyncio.gather()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3 providers HTTP frais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200 – 700 ms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asyncio.gather() — parallèle vs ~1 500 ms séquentiel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Objectif p95 cahier des 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&lt; 800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Respecté en conditions normales de réseau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Pré-chauffe APScheduler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~5 ms réponse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Cache renouvelé avant expiration TTL L1/L2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762756"/>
            <a:ext cx="1118585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8A"/>
                </a:solidFill>
                <a:latin typeface="Calibri"/>
              </a:rPr>
              <a:t>Dégradation gracieuse : service opérationnel avec 1 provider sur 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4265676"/>
          <a:ext cx="11185854" cy="2017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Providers OK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Comportement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Champs retournés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F172A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F172A"/>
                          </a:solidFill>
                          <a:latin typeface="Calibri"/>
                        </a:rPr>
                        <a:t>Fusion complète — indice_confiance calculé sur 3 sources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F172A"/>
                          </a:solidFill>
                          <a:latin typeface="Calibri"/>
                        </a:rPr>
                        <a:t>fournisseurs_ko vide · avertissement null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F172A"/>
                          </a:solidFill>
                          <a:latin typeface="Calibri"/>
                        </a:rPr>
                        <a:t>2/3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F172A"/>
                          </a:solidFill>
                          <a:latin typeface="Calibri"/>
                        </a:rPr>
                        <a:t>Fusion partielle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0F172A"/>
                          </a:solidFill>
                          <a:latin typeface="Calibri"/>
                        </a:rPr>
                        <a:t>fournisseurs_ko</a:t>
                      </a:r>
                      <a:r>
                        <a:rPr sz="1400" dirty="0">
                          <a:solidFill>
                            <a:srgbClr val="0F172A"/>
                          </a:solidFill>
                          <a:latin typeface="Calibri"/>
                        </a:rPr>
                        <a:t> </a:t>
                      </a:r>
                      <a:r>
                        <a:rPr sz="1400" dirty="0" err="1">
                          <a:solidFill>
                            <a:srgbClr val="0F172A"/>
                          </a:solidFill>
                          <a:latin typeface="Calibri"/>
                        </a:rPr>
                        <a:t>renseigné</a:t>
                      </a:r>
                      <a:r>
                        <a:rPr sz="1400" dirty="0">
                          <a:solidFill>
                            <a:srgbClr val="0F172A"/>
                          </a:solidFill>
                          <a:latin typeface="Calibri"/>
                        </a:rPr>
                        <a:t> · </a:t>
                      </a:r>
                      <a:r>
                        <a:rPr sz="1400" dirty="0" err="1">
                          <a:solidFill>
                            <a:srgbClr val="0F172A"/>
                          </a:solidFill>
                          <a:latin typeface="Calibri"/>
                        </a:rPr>
                        <a:t>avertissement</a:t>
                      </a:r>
                      <a:r>
                        <a:rPr sz="1400" dirty="0">
                          <a:solidFill>
                            <a:srgbClr val="0F172A"/>
                          </a:solidFill>
                          <a:latin typeface="Calibri"/>
                        </a:rPr>
                        <a:t>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F172A"/>
                          </a:solidFill>
                          <a:latin typeface="Calibri"/>
                        </a:rPr>
                        <a:t>1/3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F172A"/>
                          </a:solidFill>
                          <a:latin typeface="Calibri"/>
                        </a:rPr>
                        <a:t>Source unique — indice_confiance = 50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F172A"/>
                          </a:solidFill>
                          <a:latin typeface="Calibri"/>
                        </a:rPr>
                        <a:t>avertissement émis automatiquement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F172A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F172A"/>
                          </a:solidFill>
                          <a:latin typeface="Calibri"/>
                        </a:rPr>
                        <a:t>Panne totale — HTTP 503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0F172A"/>
                          </a:solidFill>
                          <a:latin typeface="Calibri"/>
                        </a:rPr>
                        <a:t>detail JSON avec </a:t>
                      </a:r>
                      <a:r>
                        <a:rPr sz="1400" dirty="0" err="1">
                          <a:solidFill>
                            <a:srgbClr val="0F172A"/>
                          </a:solidFill>
                          <a:latin typeface="Calibri"/>
                        </a:rPr>
                        <a:t>liste</a:t>
                      </a:r>
                      <a:r>
                        <a:rPr sz="1400" dirty="0">
                          <a:solidFill>
                            <a:srgbClr val="0F172A"/>
                          </a:solidFill>
                          <a:latin typeface="Calibri"/>
                        </a:rPr>
                        <a:t> </a:t>
                      </a:r>
                      <a:r>
                        <a:rPr sz="1400" dirty="0" err="1">
                          <a:solidFill>
                            <a:srgbClr val="0F172A"/>
                          </a:solidFill>
                          <a:latin typeface="Calibri"/>
                        </a:rPr>
                        <a:t>fournisseurs_ko</a:t>
                      </a:r>
                      <a:endParaRPr sz="1400" dirty="0">
                        <a:solidFill>
                          <a:srgbClr val="0F172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Déploiement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Railway · GitHub Codespaces (monitoring complet)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900" dirty="0" smtClean="0">
                <a:solidFill>
                  <a:srgbClr val="94A3B8"/>
                </a:solidFill>
                <a:latin typeface="Calibri"/>
              </a:rPr>
              <a:t>20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94A3B8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293876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 err="1">
                <a:solidFill>
                  <a:srgbClr val="1E3A8A"/>
                </a:solidFill>
                <a:latin typeface="Calibri"/>
              </a:rPr>
              <a:t>Contrainte</a:t>
            </a:r>
            <a:r>
              <a:rPr sz="1800" b="0" i="0" dirty="0">
                <a:solidFill>
                  <a:srgbClr val="1E3A8A"/>
                </a:solidFill>
                <a:latin typeface="Calibri"/>
              </a:rPr>
              <a:t> plan </a:t>
            </a:r>
            <a:r>
              <a:rPr sz="1800" b="0" i="0" dirty="0" err="1">
                <a:solidFill>
                  <a:srgbClr val="1E3A8A"/>
                </a:solidFill>
                <a:latin typeface="Calibri"/>
              </a:rPr>
              <a:t>trial</a:t>
            </a:r>
            <a:r>
              <a:rPr sz="1800" b="0" i="0" dirty="0">
                <a:solidFill>
                  <a:srgbClr val="1E3A8A"/>
                </a:solidFill>
                <a:latin typeface="Calibri"/>
              </a:rPr>
              <a:t> : app + </a:t>
            </a:r>
            <a:r>
              <a:rPr sz="1800" b="0" i="0" dirty="0" err="1">
                <a:solidFill>
                  <a:srgbClr val="1E3A8A"/>
                </a:solidFill>
                <a:latin typeface="Calibri"/>
              </a:rPr>
              <a:t>Redis</a:t>
            </a:r>
            <a:r>
              <a:rPr sz="18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1E3A8A"/>
                </a:solidFill>
                <a:latin typeface="Calibri"/>
              </a:rPr>
              <a:t>seulement</a:t>
            </a:r>
            <a:r>
              <a:rPr sz="1800" b="0" i="0" dirty="0">
                <a:solidFill>
                  <a:srgbClr val="1E3A8A"/>
                </a:solidFill>
                <a:latin typeface="Calibri"/>
              </a:rPr>
              <a:t> — Prometheus/</a:t>
            </a:r>
            <a:r>
              <a:rPr sz="1800" b="0" i="0" dirty="0" err="1">
                <a:solidFill>
                  <a:srgbClr val="1E3A8A"/>
                </a:solidFill>
                <a:latin typeface="Calibri"/>
              </a:rPr>
              <a:t>Grafana</a:t>
            </a:r>
            <a:r>
              <a:rPr sz="18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1E3A8A"/>
                </a:solidFill>
                <a:latin typeface="Calibri"/>
              </a:rPr>
              <a:t>nécessitent</a:t>
            </a:r>
            <a:r>
              <a:rPr sz="18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1E3A8A"/>
                </a:solidFill>
                <a:latin typeface="Calibri"/>
              </a:rPr>
              <a:t>Codespaces</a:t>
            </a:r>
            <a:r>
              <a:rPr sz="18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1E3A8A"/>
                </a:solidFill>
                <a:latin typeface="Calibri"/>
              </a:rPr>
              <a:t>ou</a:t>
            </a:r>
            <a:r>
              <a:rPr sz="1800" b="0" i="0" dirty="0">
                <a:solidFill>
                  <a:srgbClr val="1E3A8A"/>
                </a:solidFill>
                <a:latin typeface="Calibri"/>
              </a:rPr>
              <a:t> VPS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88236"/>
            <a:ext cx="5577840" cy="39319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97967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3A8A"/>
                </a:solidFill>
                <a:latin typeface="Calibri"/>
              </a:rPr>
              <a:t>Railway (app + Redis)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28316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F172A"/>
                </a:solidFill>
                <a:latin typeface="Calibri"/>
              </a:rPr>
              <a:t>1. Settings → Source → Connect Repo (branche develop)
2. Plugin Redis → REDIS_URL injectée auto
3. Variables OPENWEATHER_API_KEY + WEATHERAPI_KEY
4. Settings → Generate Domain → HTTPS automatique
Déploiement auto à chaque push — aucun token CI requis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888236"/>
            <a:ext cx="5577840" cy="39319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197967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3A8A"/>
                </a:solidFill>
                <a:latin typeface="Calibri"/>
              </a:rPr>
              <a:t>GitHub Codespaces (stack complète)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528316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0F172A"/>
                </a:solidFill>
                <a:latin typeface="Calibri"/>
              </a:rPr>
              <a:t>.</a:t>
            </a:r>
            <a:r>
              <a:rPr sz="1700" b="0" i="0" dirty="0" err="1">
                <a:solidFill>
                  <a:srgbClr val="0F172A"/>
                </a:solidFill>
                <a:latin typeface="Calibri"/>
              </a:rPr>
              <a:t>devcontainer</a:t>
            </a:r>
            <a:r>
              <a:rPr sz="1700" b="0" i="0" dirty="0">
                <a:solidFill>
                  <a:srgbClr val="0F172A"/>
                </a:solidFill>
                <a:latin typeface="Calibri"/>
              </a:rPr>
              <a:t>/</a:t>
            </a:r>
            <a:r>
              <a:rPr sz="1700" b="0" i="0" dirty="0" err="1">
                <a:solidFill>
                  <a:srgbClr val="0F172A"/>
                </a:solidFill>
                <a:latin typeface="Calibri"/>
              </a:rPr>
              <a:t>devcontainer.json</a:t>
            </a:r>
            <a:r>
              <a:rPr sz="1700" b="0" i="0" dirty="0">
                <a:solidFill>
                  <a:srgbClr val="0F172A"/>
                </a:solidFill>
                <a:latin typeface="Calibri"/>
              </a:rPr>
              <a:t>
→ </a:t>
            </a:r>
            <a:r>
              <a:rPr sz="1700" b="0" i="0" dirty="0" err="1">
                <a:solidFill>
                  <a:srgbClr val="0F172A"/>
                </a:solidFill>
                <a:latin typeface="Calibri"/>
              </a:rPr>
              <a:t>docker</a:t>
            </a:r>
            <a:r>
              <a:rPr sz="1700" b="0" i="0" dirty="0">
                <a:solidFill>
                  <a:srgbClr val="0F172A"/>
                </a:solidFill>
                <a:latin typeface="Calibri"/>
              </a:rPr>
              <a:t>-in-</a:t>
            </a:r>
            <a:r>
              <a:rPr sz="1700" b="0" i="0" dirty="0" err="1">
                <a:solidFill>
                  <a:srgbClr val="0F172A"/>
                </a:solidFill>
                <a:latin typeface="Calibri"/>
              </a:rPr>
              <a:t>docker</a:t>
            </a:r>
            <a:r>
              <a:rPr sz="1700" b="0" i="0" dirty="0">
                <a:solidFill>
                  <a:srgbClr val="0F172A"/>
                </a:solidFill>
                <a:latin typeface="Calibri"/>
              </a:rPr>
              <a:t> feature
→ </a:t>
            </a:r>
            <a:r>
              <a:rPr sz="1700" b="0" i="0" dirty="0" err="1">
                <a:solidFill>
                  <a:srgbClr val="0F172A"/>
                </a:solidFill>
                <a:latin typeface="Calibri"/>
              </a:rPr>
              <a:t>forwardPorts</a:t>
            </a:r>
            <a:r>
              <a:rPr sz="1700" b="0" i="0" dirty="0">
                <a:solidFill>
                  <a:srgbClr val="0F172A"/>
                </a:solidFill>
                <a:latin typeface="Calibri"/>
              </a:rPr>
              <a:t>: [8000, 3000, 9090]
→ </a:t>
            </a:r>
            <a:r>
              <a:rPr sz="1700" b="0" i="0" dirty="0" err="1">
                <a:solidFill>
                  <a:srgbClr val="0F172A"/>
                </a:solidFill>
                <a:latin typeface="Calibri"/>
              </a:rPr>
              <a:t>postCreateCommand</a:t>
            </a:r>
            <a:r>
              <a:rPr sz="1700" b="0" i="0" dirty="0">
                <a:solidFill>
                  <a:srgbClr val="0F172A"/>
                </a:solidFill>
                <a:latin typeface="Calibri"/>
              </a:rPr>
              <a:t>: setup.sh
→ </a:t>
            </a:r>
            <a:r>
              <a:rPr sz="1700" b="0" i="0" dirty="0" err="1">
                <a:solidFill>
                  <a:srgbClr val="0F172A"/>
                </a:solidFill>
                <a:latin typeface="Calibri"/>
              </a:rPr>
              <a:t>docker</a:t>
            </a:r>
            <a:r>
              <a:rPr sz="1700" b="0" i="0" dirty="0">
                <a:solidFill>
                  <a:srgbClr val="0F172A"/>
                </a:solidFill>
                <a:latin typeface="Calibri"/>
              </a:rPr>
              <a:t> compose up --build -d
Ports exposés </a:t>
            </a:r>
            <a:r>
              <a:rPr sz="1700" b="0" i="0" dirty="0" err="1">
                <a:solidFill>
                  <a:srgbClr val="0F172A"/>
                </a:solidFill>
                <a:latin typeface="Calibri"/>
              </a:rPr>
              <a:t>dans</a:t>
            </a:r>
            <a:r>
              <a:rPr sz="17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0F172A"/>
                </a:solidFill>
                <a:latin typeface="Calibri"/>
              </a:rPr>
              <a:t>onglet</a:t>
            </a:r>
            <a:r>
              <a:rPr sz="1700" b="0" i="0" dirty="0">
                <a:solidFill>
                  <a:srgbClr val="0F172A"/>
                </a:solidFill>
                <a:latin typeface="Calibri"/>
              </a:rPr>
              <a:t> PORTS de VS Code</a:t>
            </a:r>
          </a:p>
        </p:txBody>
      </p:sp>
      <p:sp>
        <p:nvSpPr>
          <p:cNvPr id="16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1145775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300" b="1" dirty="0" smtClean="0">
                <a:solidFill>
                  <a:srgbClr val="1E3A8A"/>
                </a:solidFill>
                <a:latin typeface="Calibri"/>
              </a:rPr>
              <a:t>Conclusion</a:t>
            </a:r>
            <a:r>
              <a:rPr lang="fr-FR" sz="3300" b="1" dirty="0">
                <a:solidFill>
                  <a:srgbClr val="1E3A8A"/>
                </a:solidFill>
              </a:rPr>
              <a:t> — </a:t>
            </a:r>
            <a:r>
              <a:rPr sz="3300" b="1" i="0" dirty="0" err="1" smtClean="0">
                <a:solidFill>
                  <a:srgbClr val="1E3A8A"/>
                </a:solidFill>
                <a:latin typeface="Calibri"/>
              </a:rPr>
              <a:t>MiabeMETEO</a:t>
            </a:r>
            <a:r>
              <a:rPr sz="3300" b="1" i="0" dirty="0" smtClean="0">
                <a:solidFill>
                  <a:srgbClr val="1E3A8A"/>
                </a:solidFill>
                <a:latin typeface="Calibri"/>
              </a:rPr>
              <a:t> </a:t>
            </a:r>
            <a:r>
              <a:rPr sz="3300" b="1" i="0" dirty="0">
                <a:solidFill>
                  <a:srgbClr val="1E3A8A"/>
                </a:solidFill>
                <a:latin typeface="Calibri"/>
              </a:rPr>
              <a:t>— </a:t>
            </a:r>
            <a:r>
              <a:rPr sz="3300" b="1" i="0" dirty="0" err="1">
                <a:solidFill>
                  <a:srgbClr val="1E3A8A"/>
                </a:solidFill>
                <a:latin typeface="Calibri"/>
              </a:rPr>
              <a:t>Agrégateur</a:t>
            </a:r>
            <a:r>
              <a:rPr sz="3300" b="1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3300" b="1" i="0" dirty="0" err="1">
                <a:solidFill>
                  <a:srgbClr val="1E3A8A"/>
                </a:solidFill>
                <a:latin typeface="Calibri"/>
              </a:rPr>
              <a:t>Météo</a:t>
            </a:r>
            <a:r>
              <a:rPr sz="3300" b="1" i="0" dirty="0">
                <a:solidFill>
                  <a:srgbClr val="1E3A8A"/>
                </a:solidFill>
                <a:latin typeface="Calibri"/>
              </a:rPr>
              <a:t> Multi-Sources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960120"/>
            <a:ext cx="3959352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2767693"/>
            <a:ext cx="2103120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2785981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1E3A8A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407773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rgbClr val="475569"/>
                </a:solidFill>
                <a:latin typeface="Calibri"/>
              </a:rPr>
              <a:t>fournisseurs</a:t>
            </a:r>
            <a:r>
              <a:rPr sz="1200" b="0" i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75569"/>
                </a:solidFill>
                <a:latin typeface="Calibri"/>
              </a:rPr>
              <a:t>météo</a:t>
            </a:r>
            <a:endParaRPr sz="120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88920" y="2767693"/>
            <a:ext cx="2103120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8920" y="2785981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 dirty="0">
                <a:solidFill>
                  <a:srgbClr val="1E3A8A"/>
                </a:solidFill>
                <a:latin typeface="Calibri"/>
              </a:rPr>
              <a:t>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407773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tests passés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767693"/>
            <a:ext cx="2103120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0" y="2785981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1E3A8A"/>
                </a:solidFill>
                <a:latin typeface="Calibri"/>
              </a:rPr>
              <a:t>82 %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407773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couverture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767693"/>
            <a:ext cx="2103120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785981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1E3A8A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407773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services Docker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0" y="2767693"/>
            <a:ext cx="1719399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0" y="2785981"/>
            <a:ext cx="171939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 dirty="0">
                <a:solidFill>
                  <a:srgbClr val="1E3A8A"/>
                </a:solidFill>
                <a:latin typeface="Calibri"/>
              </a:rPr>
              <a:t>&lt; 10 </a:t>
            </a:r>
            <a:r>
              <a:rPr sz="3300" b="1" i="0" dirty="0" err="1">
                <a:solidFill>
                  <a:srgbClr val="1E3A8A"/>
                </a:solidFill>
                <a:latin typeface="Calibri"/>
              </a:rPr>
              <a:t>ms</a:t>
            </a:r>
            <a:endParaRPr sz="3300" b="1" i="0" dirty="0">
              <a:solidFill>
                <a:srgbClr val="1E3A8A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241280" y="3407773"/>
            <a:ext cx="17193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cache L2 hit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37960"/>
            <a:ext cx="11185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1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94A3B8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000" dirty="0" smtClean="0"/>
              <a:t>s</a:t>
            </a:r>
            <a:endParaRPr sz="2000" dirty="0"/>
          </a:p>
        </p:txBody>
      </p:sp>
      <p:sp>
        <p:nvSpPr>
          <p:cNvPr id="30" name="TextBox 6"/>
          <p:cNvSpPr txBox="1"/>
          <p:nvPr/>
        </p:nvSpPr>
        <p:spPr>
          <a:xfrm>
            <a:off x="1501140" y="845820"/>
            <a:ext cx="91440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500" b="1" i="0">
                <a:solidFill>
                  <a:srgbClr val="0F172A"/>
                </a:solidFill>
                <a:latin typeface="Calibri"/>
              </a:rPr>
              <a:t>Merci.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01140" y="2994660"/>
            <a:ext cx="5486400" cy="64008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32" name="TextBox 8"/>
          <p:cNvSpPr txBox="1"/>
          <p:nvPr/>
        </p:nvSpPr>
        <p:spPr>
          <a:xfrm>
            <a:off x="1501140" y="313182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3600" b="1" i="0">
                <a:solidFill>
                  <a:srgbClr val="2263EB"/>
                </a:solidFill>
                <a:latin typeface="Calibri"/>
              </a:rPr>
              <a:t>Des questions 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01140" y="6259068"/>
            <a:ext cx="1572768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34" name="TextBox 13"/>
          <p:cNvSpPr txBox="1"/>
          <p:nvPr/>
        </p:nvSpPr>
        <p:spPr>
          <a:xfrm>
            <a:off x="1574292" y="6286500"/>
            <a:ext cx="1572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400" b="1" dirty="0" err="1" smtClean="0">
                <a:solidFill>
                  <a:srgbClr val="2263EB"/>
                </a:solidFill>
                <a:latin typeface="Calibri"/>
              </a:rPr>
              <a:t>FastAPI</a:t>
            </a:r>
            <a:endParaRPr sz="1400" b="1" i="0" dirty="0">
              <a:solidFill>
                <a:srgbClr val="2263EB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201924" y="6259068"/>
            <a:ext cx="1572768" cy="34747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36" name="TextBox 15"/>
          <p:cNvSpPr txBox="1"/>
          <p:nvPr/>
        </p:nvSpPr>
        <p:spPr>
          <a:xfrm>
            <a:off x="3275076" y="6286500"/>
            <a:ext cx="1572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rgbClr val="059669"/>
                </a:solidFill>
              </a:rPr>
              <a:t> </a:t>
            </a:r>
            <a:r>
              <a:rPr lang="fr-FR" sz="1400" b="1" dirty="0" err="1">
                <a:solidFill>
                  <a:srgbClr val="059669"/>
                </a:solidFill>
              </a:rPr>
              <a:t>httpx</a:t>
            </a:r>
            <a:r>
              <a:rPr lang="fr-FR" sz="1400" b="1" dirty="0">
                <a:solidFill>
                  <a:srgbClr val="059669"/>
                </a:solidFill>
              </a:rPr>
              <a:t> + </a:t>
            </a:r>
            <a:r>
              <a:rPr lang="fr-FR" sz="1400" b="1" dirty="0" err="1">
                <a:solidFill>
                  <a:srgbClr val="059669"/>
                </a:solidFill>
              </a:rPr>
              <a:t>asyncio</a:t>
            </a:r>
            <a:endParaRPr lang="fr-FR" sz="1400" b="1" dirty="0">
              <a:solidFill>
                <a:srgbClr val="059669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902708" y="6259068"/>
            <a:ext cx="1572768" cy="347472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38" name="TextBox 17"/>
          <p:cNvSpPr txBox="1"/>
          <p:nvPr/>
        </p:nvSpPr>
        <p:spPr>
          <a:xfrm>
            <a:off x="4975860" y="6286500"/>
            <a:ext cx="1572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400" b="1" i="0" dirty="0" smtClean="0">
                <a:solidFill>
                  <a:srgbClr val="0D9488"/>
                </a:solidFill>
                <a:latin typeface="Calibri"/>
              </a:rPr>
              <a:t>Redis</a:t>
            </a:r>
            <a:endParaRPr sz="1400" b="1" i="0" dirty="0">
              <a:solidFill>
                <a:srgbClr val="0D9488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603492" y="6259068"/>
            <a:ext cx="1572768" cy="34747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40" name="TextBox 19"/>
          <p:cNvSpPr txBox="1"/>
          <p:nvPr/>
        </p:nvSpPr>
        <p:spPr>
          <a:xfrm>
            <a:off x="6676644" y="6286500"/>
            <a:ext cx="1572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400" b="1" i="0" dirty="0" smtClean="0">
                <a:solidFill>
                  <a:srgbClr val="D97706"/>
                </a:solidFill>
                <a:latin typeface="Calibri"/>
              </a:rPr>
              <a:t>Circuit </a:t>
            </a:r>
            <a:r>
              <a:rPr lang="fr-FR" sz="1400" b="1" i="0" dirty="0" err="1" smtClean="0">
                <a:solidFill>
                  <a:srgbClr val="D97706"/>
                </a:solidFill>
                <a:latin typeface="Calibri"/>
              </a:rPr>
              <a:t>breaker</a:t>
            </a:r>
            <a:endParaRPr sz="1400" b="1" i="0" dirty="0">
              <a:solidFill>
                <a:srgbClr val="D97706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304276" y="6259068"/>
            <a:ext cx="1997548" cy="34747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42" name="TextBox 21"/>
          <p:cNvSpPr txBox="1"/>
          <p:nvPr/>
        </p:nvSpPr>
        <p:spPr>
          <a:xfrm>
            <a:off x="8377428" y="6286500"/>
            <a:ext cx="19243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400" b="1" i="0" dirty="0" err="1" smtClean="0">
                <a:solidFill>
                  <a:srgbClr val="7C3AED"/>
                </a:solidFill>
                <a:latin typeface="Calibri"/>
              </a:rPr>
              <a:t>Prometheus</a:t>
            </a:r>
            <a:r>
              <a:rPr lang="fr-FR" sz="1400" b="1" i="0" dirty="0" smtClean="0">
                <a:solidFill>
                  <a:srgbClr val="7C3AED"/>
                </a:solidFill>
                <a:latin typeface="Calibri"/>
              </a:rPr>
              <a:t> et </a:t>
            </a:r>
            <a:r>
              <a:rPr lang="fr-FR" sz="1400" b="1" i="0" dirty="0" err="1" smtClean="0">
                <a:solidFill>
                  <a:srgbClr val="7C3AED"/>
                </a:solidFill>
                <a:latin typeface="Calibri"/>
              </a:rPr>
              <a:t>Grafana</a:t>
            </a:r>
            <a:endParaRPr sz="1400" b="1" i="0" dirty="0">
              <a:solidFill>
                <a:srgbClr val="7C3AED"/>
              </a:solidFill>
              <a:latin typeface="Calibr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0487198" y="6259068"/>
            <a:ext cx="1572768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44" name="TextBox 23"/>
          <p:cNvSpPr txBox="1"/>
          <p:nvPr/>
        </p:nvSpPr>
        <p:spPr>
          <a:xfrm>
            <a:off x="10560350" y="6286500"/>
            <a:ext cx="1572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400" b="1" i="0" dirty="0" smtClean="0">
                <a:solidFill>
                  <a:srgbClr val="4338CA"/>
                </a:solidFill>
                <a:latin typeface="Calibri"/>
              </a:rPr>
              <a:t>Docker</a:t>
            </a:r>
            <a:endParaRPr sz="1400" b="1" i="0" dirty="0">
              <a:solidFill>
                <a:srgbClr val="4338CA"/>
              </a:solidFill>
              <a:latin typeface="Calibri"/>
            </a:endParaRPr>
          </a:p>
        </p:txBody>
      </p:sp>
      <p:sp>
        <p:nvSpPr>
          <p:cNvPr id="45" name="TextBox 24"/>
          <p:cNvSpPr txBox="1"/>
          <p:nvPr/>
        </p:nvSpPr>
        <p:spPr>
          <a:xfrm>
            <a:off x="11397343" y="6560820"/>
            <a:ext cx="7382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200" b="0" i="0" dirty="0" smtClean="0">
                <a:solidFill>
                  <a:srgbClr val="CBD5E1"/>
                </a:solidFill>
                <a:latin typeface="Calibri"/>
              </a:rPr>
              <a:t>22/22</a:t>
            </a:r>
            <a:endParaRPr sz="1200" b="0" i="0" dirty="0">
              <a:solidFill>
                <a:srgbClr val="CBD5E1"/>
              </a:solidFill>
              <a:latin typeface="Calibri"/>
            </a:endParaRPr>
          </a:p>
        </p:txBody>
      </p:sp>
      <p:sp>
        <p:nvSpPr>
          <p:cNvPr id="46" name="TextBox 20"/>
          <p:cNvSpPr txBox="1"/>
          <p:nvPr/>
        </p:nvSpPr>
        <p:spPr>
          <a:xfrm>
            <a:off x="1433757" y="4289442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0" i="0" dirty="0" err="1">
                <a:solidFill>
                  <a:srgbClr val="64748B"/>
                </a:solidFill>
                <a:latin typeface="Calibri"/>
              </a:rPr>
              <a:t>Projet</a:t>
            </a:r>
            <a:r>
              <a:rPr sz="16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600" b="0" i="0" dirty="0" smtClean="0">
                <a:solidFill>
                  <a:srgbClr val="64748B"/>
                </a:solidFill>
                <a:latin typeface="Calibri"/>
              </a:rPr>
              <a:t>N°</a:t>
            </a:r>
            <a:r>
              <a:rPr lang="fr-FR" sz="1600" b="0" i="0" dirty="0" smtClean="0">
                <a:solidFill>
                  <a:srgbClr val="64748B"/>
                </a:solidFill>
                <a:latin typeface="Calibri"/>
              </a:rPr>
              <a:t>5</a:t>
            </a:r>
            <a:r>
              <a:rPr sz="1600" b="0" i="0" dirty="0" smtClean="0">
                <a:solidFill>
                  <a:srgbClr val="64748B"/>
                </a:solidFill>
                <a:latin typeface="Calibri"/>
              </a:rPr>
              <a:t>  </a:t>
            </a:r>
            <a:r>
              <a:rPr sz="1600" b="0" i="0" dirty="0">
                <a:solidFill>
                  <a:srgbClr val="64748B"/>
                </a:solidFill>
                <a:latin typeface="Calibri"/>
              </a:rPr>
              <a:t>·  </a:t>
            </a:r>
            <a:r>
              <a:rPr sz="1600" b="0" i="0" dirty="0" err="1">
                <a:solidFill>
                  <a:srgbClr val="64748B"/>
                </a:solidFill>
                <a:latin typeface="Calibri"/>
              </a:rPr>
              <a:t>Groupe</a:t>
            </a:r>
            <a:r>
              <a:rPr sz="16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lang="fr-FR" sz="1600" b="0" i="0" dirty="0" smtClean="0">
                <a:solidFill>
                  <a:srgbClr val="64748B"/>
                </a:solidFill>
                <a:latin typeface="Calibri"/>
              </a:rPr>
              <a:t>5</a:t>
            </a:r>
            <a:endParaRPr sz="16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47" name="TextBox 21"/>
          <p:cNvSpPr txBox="1"/>
          <p:nvPr/>
        </p:nvSpPr>
        <p:spPr>
          <a:xfrm>
            <a:off x="1433757" y="4914126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>
                <a:solidFill>
                  <a:srgbClr val="0F172A"/>
                </a:solidFill>
              </a:rPr>
              <a:t>SONHOUIN Abdoul-</a:t>
            </a:r>
            <a:r>
              <a:rPr lang="fr-FR" sz="1600" b="1" dirty="0" err="1">
                <a:solidFill>
                  <a:srgbClr val="0F172A"/>
                </a:solidFill>
              </a:rPr>
              <a:t>Raouf</a:t>
            </a:r>
            <a:r>
              <a:rPr lang="fr-FR" sz="1600" b="1" dirty="0">
                <a:solidFill>
                  <a:srgbClr val="0F172A"/>
                </a:solidFill>
              </a:rPr>
              <a:t> - TCHAGBA Kaled - YEYE Koffi Gagnon </a:t>
            </a:r>
          </a:p>
        </p:txBody>
      </p:sp>
      <p:sp>
        <p:nvSpPr>
          <p:cNvPr id="48" name="TextBox 22"/>
          <p:cNvSpPr txBox="1"/>
          <p:nvPr/>
        </p:nvSpPr>
        <p:spPr>
          <a:xfrm>
            <a:off x="7929372" y="5813597"/>
            <a:ext cx="4206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300" b="0" i="0" dirty="0">
                <a:solidFill>
                  <a:srgbClr val="64748B"/>
                </a:solidFill>
                <a:latin typeface="Calibri"/>
              </a:rPr>
              <a:t>ESGIS </a:t>
            </a:r>
            <a:r>
              <a:rPr sz="1300" b="0" i="0" dirty="0" smtClean="0">
                <a:solidFill>
                  <a:srgbClr val="64748B"/>
                </a:solidFill>
                <a:latin typeface="Calibri"/>
              </a:rPr>
              <a:t>·  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M1 IA &amp; Big Data  ·  2025-2026</a:t>
            </a:r>
          </a:p>
        </p:txBody>
      </p:sp>
      <p:sp>
        <p:nvSpPr>
          <p:cNvPr id="49" name="TextBox 21"/>
          <p:cNvSpPr txBox="1"/>
          <p:nvPr/>
        </p:nvSpPr>
        <p:spPr>
          <a:xfrm>
            <a:off x="1433757" y="5598473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i="0" dirty="0" smtClean="0">
                <a:solidFill>
                  <a:srgbClr val="0F172A"/>
                </a:solidFill>
                <a:latin typeface="Calibri"/>
              </a:rPr>
              <a:t>Professeur :</a:t>
            </a:r>
            <a:r>
              <a:rPr sz="1600" b="1" i="0" dirty="0" smtClean="0">
                <a:solidFill>
                  <a:srgbClr val="0F172A"/>
                </a:solidFill>
                <a:latin typeface="Calibri"/>
              </a:rPr>
              <a:t>  </a:t>
            </a:r>
            <a:r>
              <a:rPr lang="fr-FR" sz="1600" b="1" dirty="0">
                <a:solidFill>
                  <a:srgbClr val="0F172A"/>
                </a:solidFill>
              </a:rPr>
              <a:t>Dr TCHAYE-KONDI Jude</a:t>
            </a:r>
          </a:p>
        </p:txBody>
      </p:sp>
    </p:spTree>
    <p:extLst>
      <p:ext uri="{BB962C8B-B14F-4D97-AF65-F5344CB8AC3E}">
        <p14:creationId xmlns:p14="http://schemas.microsoft.com/office/powerpoint/2010/main" val="1914146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2099</Words>
  <Application>Microsoft Office PowerPoint</Application>
  <PresentationFormat>Grand écran</PresentationFormat>
  <Paragraphs>346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Kaled TCHAGBA</dc:creator>
  <cp:keywords/>
  <dc:description>generated using python-pptx</dc:description>
  <cp:lastModifiedBy>Kaled TCHAGBA</cp:lastModifiedBy>
  <cp:revision>13</cp:revision>
  <dcterms:created xsi:type="dcterms:W3CDTF">2013-01-27T09:14:16Z</dcterms:created>
  <dcterms:modified xsi:type="dcterms:W3CDTF">2026-07-01T18:27:47Z</dcterms:modified>
  <cp:category/>
</cp:coreProperties>
</file>